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3" r:id="rId14"/>
    <p:sldId id="265" r:id="rId16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B1D5E"/>
            </a:gs>
            <a:gs pos="100000">
              <a:srgbClr val="0B0A1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9945FF"/>
              </a:gs>
              <a:gs pos="50000">
                <a:srgbClr val="00C2FF"/>
              </a:gs>
              <a:gs pos="100000">
                <a:srgbClr val="14F19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path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0" y="1270000"/>
            <a:ext cx="4318000" cy="431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800" y="1587500"/>
            <a:ext cx="60325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0" b="1">
                <a:solidFill>
                  <a:srgbClr val="F4F3FB"/>
                </a:solidFill>
                <a:latin typeface="Plus Jakarta Sans"/>
              </a:rPr>
              <a:t>SigPath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794000"/>
            <a:ext cx="6032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B48CFF"/>
                </a:solidFill>
                <a:latin typeface="Plus Jakarta Sans"/>
              </a:rPr>
              <a:t>Deal Go –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B48CFF"/>
                </a:solidFill>
                <a:latin typeface="Plus Jakarta Sans"/>
              </a:rPr>
              <a:t>Scam Towed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1275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8C5E2"/>
                </a:solidFill>
                <a:latin typeface="Plus Jakarta Sans"/>
              </a:rPr>
              <a:t>Every deal compared. Every deal checked.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4762500"/>
            <a:ext cx="2286000" cy="406400"/>
          </a:xfrm>
          <a:prstGeom prst="roundRect">
            <a:avLst>
              <a:gd name="adj" fmla="val 50000"/>
            </a:avLst>
          </a:prstGeom>
          <a:solidFill>
            <a:srgbClr val="14F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9800" y="4762500"/>
            <a:ext cx="2032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0A1A"/>
                </a:solidFill>
                <a:latin typeface="Plus Jakarta Sans"/>
              </a:rPr>
              <a:t>sigpath.vercel.app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9945FF"/>
              </a:gs>
              <a:gs pos="50000">
                <a:srgbClr val="00C2FF"/>
              </a:gs>
              <a:gs pos="100000">
                <a:srgbClr val="14F19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1206500"/>
            <a:ext cx="5715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>
                <a:solidFill>
                  <a:srgbClr val="B48CFF"/>
                </a:solidFill>
                <a:latin typeface="Plus Jakarta Sans"/>
              </a:rPr>
              <a:t>1 in 8</a:t>
            </a:r>
          </a:p>
        </p:txBody>
      </p:sp>
      <p:sp>
        <p:nvSpPr>
          <p:cNvPr id="4" name="Oval 3"/>
          <p:cNvSpPr/>
          <p:nvPr/>
        </p:nvSpPr>
        <p:spPr>
          <a:xfrm>
            <a:off x="7429500" y="1206500"/>
            <a:ext cx="698500" cy="698500"/>
          </a:xfrm>
          <a:prstGeom prst="ellipse">
            <a:avLst/>
          </a:prstGeom>
          <a:solidFill>
            <a:srgbClr val="B4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29500" y="12065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6" name="Oval 5"/>
          <p:cNvSpPr/>
          <p:nvPr/>
        </p:nvSpPr>
        <p:spPr>
          <a:xfrm>
            <a:off x="8305800" y="1206500"/>
            <a:ext cx="698500" cy="69850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05800" y="12065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8" name="Oval 7"/>
          <p:cNvSpPr/>
          <p:nvPr/>
        </p:nvSpPr>
        <p:spPr>
          <a:xfrm>
            <a:off x="9182100" y="1206500"/>
            <a:ext cx="698500" cy="69850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82100" y="12065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0" name="Oval 9"/>
          <p:cNvSpPr/>
          <p:nvPr/>
        </p:nvSpPr>
        <p:spPr>
          <a:xfrm>
            <a:off x="10058400" y="1206500"/>
            <a:ext cx="698500" cy="69850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0" y="12065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2" name="Oval 11"/>
          <p:cNvSpPr/>
          <p:nvPr/>
        </p:nvSpPr>
        <p:spPr>
          <a:xfrm>
            <a:off x="7429500" y="2082800"/>
            <a:ext cx="698500" cy="69850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29500" y="20828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4" name="Oval 13"/>
          <p:cNvSpPr/>
          <p:nvPr/>
        </p:nvSpPr>
        <p:spPr>
          <a:xfrm>
            <a:off x="8305800" y="2082800"/>
            <a:ext cx="698500" cy="69850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05800" y="20828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6" name="Oval 15"/>
          <p:cNvSpPr/>
          <p:nvPr/>
        </p:nvSpPr>
        <p:spPr>
          <a:xfrm>
            <a:off x="9182100" y="2082800"/>
            <a:ext cx="698500" cy="69850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82100" y="20828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8" name="Oval 17"/>
          <p:cNvSpPr/>
          <p:nvPr/>
        </p:nvSpPr>
        <p:spPr>
          <a:xfrm>
            <a:off x="10058400" y="2082800"/>
            <a:ext cx="698500" cy="69850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0" y="20828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12800" y="3556000"/>
            <a:ext cx="1016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4F3FB"/>
                </a:solidFill>
                <a:latin typeface="Plus Jakarta Sans"/>
              </a:rPr>
              <a:t>German online shoppers fell for a fake shop in the last two years.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469900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C8C5E2"/>
                </a:solidFill>
                <a:latin typeface="Plus Jakarta Sans"/>
              </a:rPr>
              <a:t>And the risk rises with every big sale: </a:t>
            </a:r>
            <a:r>
              <a:rPr sz="2200" b="1">
                <a:solidFill>
                  <a:srgbClr val="14F195"/>
                </a:solidFill>
                <a:latin typeface="Plus Jakarta Sans"/>
              </a:rPr>
              <a:t>Black Friday</a:t>
            </a:r>
            <a:r>
              <a:rPr sz="2200" b="0">
                <a:solidFill>
                  <a:srgbClr val="C8C5E2"/>
                </a:solidFill>
                <a:latin typeface="Plus Jakarta Sans"/>
              </a:rPr>
              <a:t>, </a:t>
            </a:r>
            <a:r>
              <a:rPr sz="2200" b="1">
                <a:solidFill>
                  <a:srgbClr val="14F195"/>
                </a:solidFill>
                <a:latin typeface="Plus Jakarta Sans"/>
              </a:rPr>
              <a:t>Cyber Monday</a:t>
            </a:r>
            <a:r>
              <a:rPr sz="2200" b="0">
                <a:solidFill>
                  <a:srgbClr val="C8C5E2"/>
                </a:solidFill>
                <a:latin typeface="Plus Jakarta Sans"/>
              </a:rPr>
              <a:t>, </a:t>
            </a:r>
            <a:r>
              <a:rPr sz="2200" b="1">
                <a:solidFill>
                  <a:srgbClr val="14F195"/>
                </a:solidFill>
                <a:latin typeface="Plus Jakarta Sans"/>
              </a:rPr>
              <a:t>Christmas</a:t>
            </a:r>
            <a:r>
              <a:rPr sz="2200" b="0">
                <a:solidFill>
                  <a:srgbClr val="C8C5E2"/>
                </a:solidFill>
                <a:latin typeface="Plus Jakarta San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3500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87AD"/>
                </a:solidFill>
                <a:latin typeface="Plus Jakarta Sans"/>
              </a:rPr>
              <a:t>Sources: vzbv / Forsa survey of 1,503 people, September 2025; Verbraucherzentrale Niedersachsen, 5 December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B1D5E"/>
            </a:gs>
            <a:gs pos="100000">
              <a:srgbClr val="0B0A1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9945FF"/>
              </a:gs>
              <a:gs pos="50000">
                <a:srgbClr val="00C2FF"/>
              </a:gs>
              <a:gs pos="100000">
                <a:srgbClr val="14F19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8CFF"/>
                </a:solidFill>
                <a:latin typeface="Plus Jakarta Sans"/>
              </a:rPr>
              <a:t>SOUTHEAST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30300"/>
            <a:ext cx="10566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3FB"/>
                </a:solidFill>
                <a:latin typeface="Plus Jakarta Sans"/>
              </a:rPr>
              <a:t>Mega-sales raise the scam risk too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413000"/>
            <a:ext cx="2540000" cy="2032000"/>
          </a:xfrm>
          <a:prstGeom prst="roundRect">
            <a:avLst>
              <a:gd name="adj" fmla="val 8750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1400" y="2667000"/>
            <a:ext cx="208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B48CFF"/>
                </a:solidFill>
                <a:latin typeface="Plus Jakarta Sans"/>
              </a:rPr>
              <a:t>11.11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3492500"/>
            <a:ext cx="208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8C5E2"/>
                </a:solidFill>
                <a:latin typeface="Plus Jakarta Sans"/>
              </a:rPr>
              <a:t>Year-end mega-sale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6000" y="2413000"/>
            <a:ext cx="2540000" cy="2032000"/>
          </a:xfrm>
          <a:prstGeom prst="roundRect">
            <a:avLst>
              <a:gd name="adj" fmla="val 8750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84600" y="2667000"/>
            <a:ext cx="208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B48CFF"/>
                </a:solidFill>
                <a:latin typeface="Plus Jakarta Sans"/>
              </a:rPr>
              <a:t>12.12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4600" y="3492500"/>
            <a:ext cx="20828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8C5E2"/>
                </a:solidFill>
                <a:latin typeface="Plus Jakarta Sans"/>
              </a:rPr>
              <a:t>Year-end mega-sale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9200" y="2413000"/>
            <a:ext cx="5080000" cy="2032000"/>
          </a:xfrm>
          <a:prstGeom prst="roundRect">
            <a:avLst>
              <a:gd name="adj" fmla="val 8750"/>
            </a:avLst>
          </a:prstGeom>
          <a:solidFill>
            <a:srgbClr val="F5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78600" y="2667000"/>
            <a:ext cx="4521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8E5A14"/>
                </a:solidFill>
                <a:latin typeface="Plus Jakarta Sans"/>
              </a:rPr>
              <a:t>+37%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8600" y="3429000"/>
            <a:ext cx="4521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32B"/>
                </a:solidFill>
                <a:latin typeface="Plus Jakarta Sans"/>
              </a:rPr>
              <a:t>more online purchase fraud cases in Malaysia, early 2025 vs 2024. Over RM19 million lost.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4762500"/>
            <a:ext cx="1016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4F3FB"/>
                </a:solidFill>
                <a:latin typeface="Plus Jakarta Sans"/>
              </a:rPr>
              <a:t>As the shopping frenzy peaks, </a:t>
            </a:r>
            <a:r>
              <a:rPr sz="2000" b="1">
                <a:solidFill>
                  <a:srgbClr val="14F195"/>
                </a:solidFill>
                <a:latin typeface="Plus Jakarta Sans"/>
              </a:rPr>
              <a:t>“so does the risk of scams and frauds.”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63500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87AD"/>
                </a:solidFill>
                <a:latin typeface="Plus Jakarta Sans"/>
              </a:rPr>
              <a:t>Sources: Microsoft Malaysia, 8 November 2024; Royal Malaysia Police figures for 1 January to 24 March, via SAYS, 28 March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B1D5E"/>
            </a:gs>
            <a:gs pos="100000">
              <a:srgbClr val="0B0A1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9945FF"/>
              </a:gs>
              <a:gs pos="50000">
                <a:srgbClr val="00C2FF"/>
              </a:gs>
              <a:gs pos="100000">
                <a:srgbClr val="14F19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8CFF"/>
                </a:solidFill>
                <a:latin typeface="Plus Jakarta Sans"/>
              </a:rPr>
              <a:t>SIGPATH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30300"/>
            <a:ext cx="10566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3FB"/>
                </a:solidFill>
                <a:latin typeface="Plus Jakarta Sans"/>
              </a:rPr>
              <a:t>Search. Check. Protect.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667000"/>
            <a:ext cx="3352800" cy="2667000"/>
          </a:xfrm>
          <a:prstGeom prst="roundRect">
            <a:avLst>
              <a:gd name="adj" fmla="val 6666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17600" y="2971800"/>
            <a:ext cx="698500" cy="698500"/>
          </a:xfrm>
          <a:prstGeom prst="ellipse">
            <a:avLst/>
          </a:prstGeom>
          <a:solidFill>
            <a:srgbClr val="14F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17600" y="29718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51230"/>
                </a:solidFill>
                <a:latin typeface="Segoe UI Symbol"/>
              </a:rPr>
              <a:t>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3937000"/>
            <a:ext cx="27432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3FB"/>
                </a:solidFill>
                <a:latin typeface="Plus Jakarta Sans"/>
              </a:rP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4445000"/>
            <a:ext cx="2743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8C5E2"/>
                </a:solidFill>
                <a:latin typeface="Plus Jakarta Sans"/>
              </a:rPr>
              <a:t>Every deal in one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9600" y="2667000"/>
            <a:ext cx="3352800" cy="2667000"/>
          </a:xfrm>
          <a:prstGeom prst="roundRect">
            <a:avLst>
              <a:gd name="adj" fmla="val 6666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724400" y="2971800"/>
            <a:ext cx="698500" cy="698500"/>
          </a:xfrm>
          <a:prstGeom prst="ellipse">
            <a:avLst/>
          </a:prstGeom>
          <a:solidFill>
            <a:srgbClr val="14F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24400" y="29718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51230"/>
                </a:solidFill>
                <a:latin typeface="Segoe UI Symbo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3937000"/>
            <a:ext cx="27432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3FB"/>
                </a:solidFill>
                <a:latin typeface="Plus Jakarta Sans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4445000"/>
            <a:ext cx="2743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8C5E2"/>
                </a:solidFill>
                <a:latin typeface="Plus Jakarta Sans"/>
              </a:rPr>
              <a:t>One verdict on every listing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6400" y="2667000"/>
            <a:ext cx="3352800" cy="2667000"/>
          </a:xfrm>
          <a:prstGeom prst="roundRect">
            <a:avLst>
              <a:gd name="adj" fmla="val 6666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31200" y="2971800"/>
            <a:ext cx="698500" cy="698500"/>
          </a:xfrm>
          <a:prstGeom prst="ellipse">
            <a:avLst/>
          </a:prstGeom>
          <a:solidFill>
            <a:srgbClr val="B4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31200" y="29718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51230"/>
                </a:solidFill>
                <a:latin typeface="Segoe UI Symbol"/>
              </a:rPr>
              <a:t>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0" y="3937000"/>
            <a:ext cx="27432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3FB"/>
                </a:solidFill>
                <a:latin typeface="Plus Jakarta Sans"/>
              </a:rPr>
              <a:t>Protect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1200" y="4445000"/>
            <a:ext cx="2743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8C5E2"/>
                </a:solidFill>
                <a:latin typeface="Plus Jakarta Sans"/>
              </a:rPr>
              <a:t>Money held until it 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9945FF"/>
              </a:gs>
              <a:gs pos="50000">
                <a:srgbClr val="00C2FF"/>
              </a:gs>
              <a:gs pos="100000">
                <a:srgbClr val="14F19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A2FE0"/>
                </a:solidFill>
                <a:latin typeface="Plus Jakarta Sans"/>
              </a:rPr>
              <a:t>ON PEAK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30300"/>
            <a:ext cx="10566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6132B"/>
                </a:solidFill>
                <a:latin typeface="Plus Jakarta Sans"/>
              </a:rPr>
              <a:t>Buyers rush. SigPath doesn't.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413000"/>
            <a:ext cx="2489200" cy="2413000"/>
          </a:xfrm>
          <a:prstGeom prst="roundRect">
            <a:avLst>
              <a:gd name="adj" fmla="val 7368"/>
            </a:avLst>
          </a:prstGeom>
          <a:solidFill>
            <a:srgbClr val="15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066800" y="2667000"/>
            <a:ext cx="457200" cy="457200"/>
          </a:xfrm>
          <a:prstGeom prst="ellipse">
            <a:avLst/>
          </a:prstGeom>
          <a:solidFill>
            <a:srgbClr val="B4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6800" y="2667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151230"/>
                </a:solidFill>
                <a:latin typeface="Segoe UI Symbol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30200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4F3FB"/>
                </a:solidFill>
                <a:latin typeface="Plus Jakarta Sans"/>
              </a:rPr>
              <a:t>Warns every visitor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905250"/>
            <a:ext cx="1981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8C5E2"/>
                </a:solidFill>
                <a:latin typeface="Plus Jakarta Sans"/>
              </a:rPr>
              <a:t>A sale-day alert on every page. Live 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2413000"/>
            <a:ext cx="2489200" cy="24130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D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759200" y="2667000"/>
            <a:ext cx="457200" cy="457200"/>
          </a:xfrm>
          <a:prstGeom prst="ellipse">
            <a:avLst/>
          </a:prstGeom>
          <a:solidFill>
            <a:srgbClr val="6A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59200" y="2667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9200" y="330200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6132B"/>
                </a:solidFill>
                <a:latin typeface="Plus Jakarta Sans"/>
              </a:rPr>
              <a:t>Checks every deal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9200" y="3905250"/>
            <a:ext cx="1981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C587A"/>
                </a:solidFill>
                <a:latin typeface="Plus Jakarta Sans"/>
              </a:rPr>
              <a:t>The full check, even in the rush: 0 false flags on 800 listings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7600" y="2413000"/>
            <a:ext cx="2489200" cy="24130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D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451600" y="2667000"/>
            <a:ext cx="457200" cy="457200"/>
          </a:xfrm>
          <a:prstGeom prst="ellipse">
            <a:avLst/>
          </a:prstGeom>
          <a:solidFill>
            <a:srgbClr val="6A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51600" y="2667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600" y="330200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6132B"/>
                </a:solidFill>
                <a:latin typeface="Plus Jakarta Sans"/>
              </a:rPr>
              <a:t>Shows who's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3905250"/>
            <a:ext cx="1981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C587A"/>
                </a:solidFill>
                <a:latin typeface="Plus Jakarta Sans"/>
              </a:rPr>
              <a:t>Verified sellers and EU-registered businesses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90000" y="2413000"/>
            <a:ext cx="2489200" cy="24130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D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0" y="2667000"/>
            <a:ext cx="457200" cy="457200"/>
          </a:xfrm>
          <a:prstGeom prst="ellipse">
            <a:avLst/>
          </a:prstGeom>
          <a:solidFill>
            <a:srgbClr val="6A2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0" y="2667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 Symbol"/>
              </a:rPr>
              <a:t>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0200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6132B"/>
                </a:solidFill>
                <a:latin typeface="Plus Jakarta Sans"/>
              </a:rPr>
              <a:t>Holds the 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905250"/>
            <a:ext cx="1981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C587A"/>
                </a:solidFill>
                <a:latin typeface="Plus Jakarta Sans"/>
              </a:rPr>
              <a:t>Paid when it ships, refunded if it doesn't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52070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6132B"/>
                </a:solidFill>
                <a:latin typeface="Plus Jakarta Sans"/>
              </a:rPr>
              <a:t>Germany first: </a:t>
            </a:r>
            <a:r>
              <a:rPr sz="1700" b="0">
                <a:solidFill>
                  <a:srgbClr val="16132B"/>
                </a:solidFill>
                <a:latin typeface="Plus Jakarta Sans"/>
              </a:rPr>
              <a:t>Black Week, 23–30 November. </a:t>
            </a:r>
            <a:r>
              <a:rPr sz="1700" b="1">
                <a:solidFill>
                  <a:srgbClr val="6A2FE0"/>
                </a:solidFill>
                <a:latin typeface="Plus Jakarta Sans"/>
              </a:rPr>
              <a:t>Southeast Asia next: </a:t>
            </a:r>
            <a:r>
              <a:rPr sz="1700" b="0">
                <a:solidFill>
                  <a:srgbClr val="16132B"/>
                </a:solidFill>
                <a:latin typeface="Plus Jakarta Sans"/>
              </a:rPr>
              <a:t>11.11 and 12.12.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63500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C587A"/>
                </a:solidFill>
                <a:latin typeface="Plus Jakarta Sans"/>
              </a:rPr>
              <a:t>Sale-day alert live on sigpath.vercel.app; 800 live eBay listings tested 9 October 2026; escrow on Solana devnet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9945FF"/>
              </a:gs>
              <a:gs pos="50000">
                <a:srgbClr val="00C2FF"/>
              </a:gs>
              <a:gs pos="100000">
                <a:srgbClr val="14F19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2B26A"/>
                </a:solidFill>
                <a:latin typeface="Plus Jakarta Sans"/>
              </a:rPr>
              <a:t>LOOK CLOSER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303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3FB"/>
                </a:solidFill>
                <a:latin typeface="Plus Jakarta Sans"/>
              </a:rPr>
              <a:t>The bait gets flagged, not promoted</a:t>
            </a:r>
          </a:p>
        </p:txBody>
      </p:sp>
      <p:pic>
        <p:nvPicPr>
          <p:cNvPr id="5" name="Picture 4" descr="demo-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117" y="1968500"/>
            <a:ext cx="7539365" cy="1397000"/>
          </a:xfrm>
          <a:prstGeom prst="rect">
            <a:avLst/>
          </a:prstGeom>
          <a:ln w="12700">
            <a:solidFill>
              <a:srgbClr val="3B3475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953500" y="1968500"/>
            <a:ext cx="24130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2B26A"/>
                </a:solidFill>
                <a:latin typeface="Plus Jakarta Sans"/>
              </a:rPr>
              <a:t>€26 laptop: far below identical ones</a:t>
            </a:r>
          </a:p>
        </p:txBody>
      </p:sp>
      <p:pic>
        <p:nvPicPr>
          <p:cNvPr id="7" name="Picture 6" descr="demo-ur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17" y="3556000"/>
            <a:ext cx="7570164" cy="1758950"/>
          </a:xfrm>
          <a:prstGeom prst="rect">
            <a:avLst/>
          </a:prstGeom>
          <a:ln w="12700">
            <a:solidFill>
              <a:srgbClr val="3B347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953500" y="3556000"/>
            <a:ext cx="2413000" cy="1758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2B26A"/>
                </a:solidFill>
                <a:latin typeface="Plus Jakarta Sans"/>
              </a:rPr>
              <a:t>Copied photo, 3-day-old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3500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87AD"/>
                </a:solidFill>
                <a:latin typeface="Plus Jakarta Sans"/>
              </a:rPr>
              <a:t>SigPath's demo feed, scams planted on purpose to show the checks. The live site shows only real listings.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B1D5E"/>
            </a:gs>
            <a:gs pos="100000">
              <a:srgbClr val="0B0A1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9945FF"/>
              </a:gs>
              <a:gs pos="50000">
                <a:srgbClr val="00C2FF"/>
              </a:gs>
              <a:gs pos="100000">
                <a:srgbClr val="14F19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8CFF"/>
                </a:solidFill>
                <a:latin typeface="Plus Jakarta Sans"/>
              </a:rPr>
              <a:t>TESTED ON LIVE EBAY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30300"/>
            <a:ext cx="10566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4F3FB"/>
                </a:solidFill>
                <a:latin typeface="Plus Jakarta Sans"/>
              </a:rPr>
              <a:t>800 real listings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2508250" cy="2032000"/>
          </a:xfrm>
          <a:prstGeom prst="roundRect">
            <a:avLst>
              <a:gd name="adj" fmla="val 8750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2200" y="2794000"/>
            <a:ext cx="194945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4F195"/>
                </a:solidFill>
                <a:latin typeface="Plus Jakarta San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3746500"/>
            <a:ext cx="19494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8C5E2"/>
                </a:solidFill>
                <a:latin typeface="Plus Jakarta Sans"/>
              </a:rPr>
              <a:t>false scam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8850" y="2540000"/>
            <a:ext cx="2508250" cy="2032000"/>
          </a:xfrm>
          <a:prstGeom prst="roundRect">
            <a:avLst>
              <a:gd name="adj" fmla="val 8750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78250" y="2794000"/>
            <a:ext cx="194945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4F195"/>
                </a:solidFill>
                <a:latin typeface="Plus Jakarta Sans"/>
              </a:rPr>
              <a:t>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8250" y="3746500"/>
            <a:ext cx="19494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8C5E2"/>
                </a:solidFill>
                <a:latin typeface="Plus Jakarta Sans"/>
              </a:rPr>
              <a:t>priced against identical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4900" y="2540000"/>
            <a:ext cx="2508250" cy="2032000"/>
          </a:xfrm>
          <a:prstGeom prst="roundRect">
            <a:avLst>
              <a:gd name="adj" fmla="val 8750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64300" y="2794000"/>
            <a:ext cx="194945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4F195"/>
                </a:solidFill>
                <a:latin typeface="Plus Jakarta Sans"/>
              </a:rPr>
              <a:t>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300" y="3746500"/>
            <a:ext cx="19494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8C5E2"/>
                </a:solidFill>
                <a:latin typeface="Plus Jakarta Sans"/>
              </a:rPr>
              <a:t>photos checked for copying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0950" y="2540000"/>
            <a:ext cx="2508250" cy="2032000"/>
          </a:xfrm>
          <a:prstGeom prst="roundRect">
            <a:avLst>
              <a:gd name="adj" fmla="val 8750"/>
            </a:avLst>
          </a:prstGeom>
          <a:solidFill>
            <a:srgbClr val="1D1940"/>
          </a:solidFill>
          <a:ln w="12700">
            <a:solidFill>
              <a:srgbClr val="3B3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50350" y="2794000"/>
            <a:ext cx="194945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B48CFF"/>
                </a:solidFill>
                <a:latin typeface="Plus Jakarta Sans"/>
              </a:rPr>
              <a:t>525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0350" y="3746500"/>
            <a:ext cx="19494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8C5E2"/>
                </a:solidFill>
                <a:latin typeface="Plus Jakarta Sans"/>
              </a:rPr>
              <a:t>automated tests 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50165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8C5E2"/>
                </a:solidFill>
                <a:latin typeface="Plus Jakarta Sans"/>
              </a:rPr>
              <a:t>First run: 14 false flags. Found, fixed, re-tested: </a:t>
            </a:r>
            <a:r>
              <a:rPr sz="1600" b="1">
                <a:solidFill>
                  <a:srgbClr val="14F195"/>
                </a:solidFill>
                <a:latin typeface="Plus Jakarta Sans"/>
              </a:rPr>
              <a:t>zero</a:t>
            </a:r>
            <a:r>
              <a:rPr sz="1600" b="0">
                <a:solidFill>
                  <a:srgbClr val="C8C5E2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3500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87AD"/>
                </a:solidFill>
                <a:latin typeface="Plus Jakarta Sans"/>
              </a:rPr>
              <a:t>16 searches × 50 listings on eBay.de through sigpath.vercel.app, 9 October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B1D5E"/>
            </a:gs>
            <a:gs pos="100000">
              <a:srgbClr val="0B0A1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9945FF"/>
              </a:gs>
              <a:gs pos="50000">
                <a:srgbClr val="00C2FF"/>
              </a:gs>
              <a:gs pos="100000">
                <a:srgbClr val="14F19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1460500"/>
            <a:ext cx="698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4F3FB"/>
                </a:solidFill>
                <a:latin typeface="Plus Jakarta Sans"/>
              </a:rPr>
              <a:t>Try it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603500"/>
            <a:ext cx="3302000" cy="533400"/>
          </a:xfrm>
          <a:prstGeom prst="roundRect">
            <a:avLst>
              <a:gd name="adj" fmla="val 50000"/>
            </a:avLst>
          </a:prstGeom>
          <a:solidFill>
            <a:srgbClr val="14F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9800" y="2603500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0A1A"/>
                </a:solidFill>
                <a:latin typeface="Plus Jakarta Sans"/>
              </a:rPr>
              <a:t>sigpath.vercel.app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429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B48CFF"/>
                </a:solidFill>
                <a:latin typeface="Plus Jakarta Sans"/>
              </a:rPr>
              <a:t>Deal Go – Scam Towed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254500"/>
            <a:ext cx="698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F195"/>
                </a:solidFill>
                <a:latin typeface="Plus Jakarta Sans"/>
              </a:rPr>
              <a:t>Built on Solana only · devnet today, mainnet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6990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8C5E2"/>
                </a:solidFill>
                <a:latin typeface="Plus Jakarta Sans"/>
              </a:rPr>
              <a:t>Yu Chuan, founder · @YC82628 on X and Telegram</a:t>
            </a:r>
          </a:p>
        </p:txBody>
      </p:sp>
      <p:pic>
        <p:nvPicPr>
          <p:cNvPr id="9" name="Picture 8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200" y="2032000"/>
            <a:ext cx="2794000" cy="279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